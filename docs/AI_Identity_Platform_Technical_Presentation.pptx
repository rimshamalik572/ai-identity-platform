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AI Identity Platform</a:t>
            </a:r>
          </a:p>
          <a:p>
            <a:r>
              <a:rPr sz="2300">
                <a:solidFill>
                  <a:srgbClr val="BFDBFE"/>
                </a:solidFill>
              </a:rPr>
              <a:t>Enterprise Digital Identity, Trust &amp; Deepfake Detection</a:t>
            </a:r>
          </a:p>
          <a:p>
            <a:r>
              <a:rPr sz="1800">
                <a:solidFill>
                  <a:srgbClr val="FFFFFF"/>
                </a:solidFill>
              </a:rPr>
              <a:t>Technical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Digital identity systems require reliable identity and fraud verification.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Deepfakes and synthetic media create additional identity risk.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Enterprise decisions require multiple evidence sources.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The platform combines identity, biometric, document, behavioral and risk signals.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Fraud Intelligence, Trust Scoring and Alert Center support operational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FastAPI API Gateway provides REST and OpenAPI/Swagger interfaces.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AI modules process identity, face, deepfake, voice and document evidence.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Device, behavioral, geo-location and historical signals add contextual evidence.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Fraud Intelligence and Trust Scoring combine evidence for risk-aware decisions.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AI Identity Copilot, Knowledge Graph, Dashboard and Alert Center support investigation.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67218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Core AI &amp; Intelligence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Identity Verification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Deepfake Detection — EfficientNet-B0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Voice Authentication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Document Intelligence / OCR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Device Intelligence and Behavioral Biometrics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Geo-location, Historical Activity and Risk Indicators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Face Comparison and AI Identity Copilot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Identity Knowledge Graph, FAISS and LangGraph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Identity Verification &amp; Deepfake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97.66 / 100</a:t>
            </a:r>
          </a:p>
          <a:p>
            <a:r>
              <a:rPr sz="1100">
                <a:solidFill>
                  <a:srgbClr val="475569"/>
                </a:solidFill>
              </a:rPr>
              <a:t>Identity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DC2626"/>
                </a:solidFill>
              </a:rPr>
              <a:t>72.90%</a:t>
            </a:r>
          </a:p>
          <a:p>
            <a:r>
              <a:rPr sz="1100">
                <a:solidFill>
                  <a:srgbClr val="475569"/>
                </a:solidFill>
              </a:rPr>
              <a:t>Deepfake Fake Probability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563EB"/>
                </a:solidFill>
              </a:rPr>
              <a:t>0.8606</a:t>
            </a:r>
          </a:p>
          <a:p>
            <a:r>
              <a:rPr sz="1100">
                <a:solidFill>
                  <a:srgbClr val="475569"/>
                </a:solidFill>
              </a:rPr>
              <a:t>Face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563EB"/>
                </a:solidFill>
              </a:rPr>
              <a:t>0.70</a:t>
            </a:r>
          </a:p>
          <a:p>
            <a:r>
              <a:rPr sz="1100">
                <a:solidFill>
                  <a:srgbClr val="475569"/>
                </a:solidFill>
              </a:rPr>
              <a:t>Face Match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Deepfake model: EfficientNet-B0 with 224×224 image input.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Class mapping: Real / Fake.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Same-person face comparison produced similarity 0.8606.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Different-person comparison produced similarity -0.2435.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Deepfake probability is an AI risk estimate, not forensic proof.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Voice, Document &amp; Contextual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563EB"/>
                </a:solidFill>
              </a:rPr>
              <a:t>71.48 / 100</a:t>
            </a:r>
          </a:p>
          <a:p>
            <a:r>
              <a:rPr sz="1100">
                <a:solidFill>
                  <a:srgbClr val="475569"/>
                </a:solidFill>
              </a:rPr>
              <a:t>Voice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79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563EB"/>
                </a:solidFill>
              </a:rPr>
              <a:t>87.78 / 100</a:t>
            </a:r>
          </a:p>
          <a:p>
            <a:r>
              <a:rPr sz="1100">
                <a:solidFill>
                  <a:srgbClr val="475569"/>
                </a:solidFill>
              </a:rPr>
              <a:t>Document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100 / 100</a:t>
            </a:r>
          </a:p>
          <a:p>
            <a:r>
              <a:rPr sz="1100">
                <a:solidFill>
                  <a:srgbClr val="475569"/>
                </a:solidFill>
              </a:rPr>
              <a:t>Device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88.75 / 100</a:t>
            </a:r>
          </a:p>
          <a:p>
            <a:r>
              <a:rPr sz="1100">
                <a:solidFill>
                  <a:srgbClr val="475569"/>
                </a:solidFill>
              </a:rPr>
              <a:t>Behavioral Biometrics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Geo-location: 100 / 100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Historical Activity: 92.40 / 100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Risk Indicators: 85.25 / 100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These signals contribute to the integrated trust and fraud assessment.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Fraud Intelligence &amp; Trust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DC2626"/>
                </a:solidFill>
              </a:rPr>
              <a:t>50.0 / 100</a:t>
            </a:r>
          </a:p>
          <a:p>
            <a:r>
              <a:rPr sz="1100">
                <a:solidFill>
                  <a:srgbClr val="475569"/>
                </a:solidFill>
              </a:rPr>
              <a:t>Fraud Risk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DC2626"/>
                </a:solidFill>
              </a:rPr>
              <a:t>MEDIUM</a:t>
            </a:r>
          </a:p>
          <a:p>
            <a:r>
              <a:rPr sz="1100">
                <a:solidFill>
                  <a:srgbClr val="475569"/>
                </a:solidFill>
              </a:rPr>
              <a:t>Fraud Risk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80.36 / 100</a:t>
            </a:r>
          </a:p>
          <a:p>
            <a:r>
              <a:rPr sz="1100">
                <a:solidFill>
                  <a:srgbClr val="475569"/>
                </a:solidFill>
              </a:rPr>
              <a:t>Validated Trust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4173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15819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563EB"/>
                </a:solidFill>
              </a:rPr>
              <a:t>9</a:t>
            </a:r>
          </a:p>
          <a:p>
            <a:r>
              <a:rPr sz="1100">
                <a:solidFill>
                  <a:srgbClr val="475569"/>
                </a:solidFill>
              </a:rPr>
              <a:t>Trust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Fraud Intelligence identified a HIGH deepfake indicator in the controlled assessment.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Recommended action: ADDITIONAL_VERIFICATION.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End-to-end integrated decision: MANUAL_REVIEW.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Trust evidence coverage: 100%.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AI Identity Copilot &amp;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AI Identity Copilot completed 6/6 analyst query tests.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Provides identity summary, risk interpretation and recommended action.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Knowledge Graph initially contained 7 nodes and 9 relationships.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Entity types include User, Device, Document, Phone Number, IP Address, Biometric Profile and Fraud Case.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Controlled anomaly detection identified a device associated with two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Executive Dashboard &amp; Alert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Executive Dashboard covers verification success, deepfake alerts, risk indicators, trust score and AI decisions.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Fraud-attempt count is explicitly marked unavailable where supporting data was not available.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Alert Center implements deepfake, fraud-risk, identity-risk, trust-score, verification and manual-review alerts.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Verified alert state: 6 total alerts, 2 active and 4 clear.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Deepfake and manual-review alerts were active in the controlled scenario.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REST API &amp;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</a:defRPr>
            </a:pPr>
            <a:r>
              <a:t>• FastAPI API Gateway with OpenAPI / Swagger documentation.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</a:defRPr>
            </a:pPr>
            <a:r>
              <a:t>• Public HTTPS demonstration through Google Colab and Cloudflare Quick Tunnel.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</a:defRPr>
            </a:pPr>
            <a:r>
              <a:t>• GET /health → HTTP 200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</a:defRPr>
            </a:pPr>
            <a:r>
              <a:t>• POST /api/v1/identity/verify → HTTP 200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</a:defRPr>
            </a:pPr>
            <a:r>
              <a:t>• POST /api/v1/fraud/signals → HTTP 200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</a:defRPr>
            </a:pPr>
            <a:r>
              <a:t>• POST /api/v1/trust/score → HTTP 200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Validated Project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97.66 / 100</a:t>
            </a:r>
          </a:p>
          <a:p>
            <a:r>
              <a:rPr sz="1100">
                <a:solidFill>
                  <a:srgbClr val="475569"/>
                </a:solidFill>
              </a:rPr>
              <a:t>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DC2626"/>
                </a:solidFill>
              </a:rPr>
              <a:t>72.90%</a:t>
            </a:r>
          </a:p>
          <a:p>
            <a:r>
              <a:rPr sz="1100">
                <a:solidFill>
                  <a:srgbClr val="475569"/>
                </a:solidFill>
              </a:rPr>
              <a:t>Deepfake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563EB"/>
                </a:solidFill>
              </a:rPr>
              <a:t>71.48 / 100</a:t>
            </a:r>
          </a:p>
          <a:p>
            <a:r>
              <a:rPr sz="1100">
                <a:solidFill>
                  <a:srgbClr val="475569"/>
                </a:solidFill>
              </a:rPr>
              <a:t>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2588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49047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2563EB"/>
                </a:solidFill>
              </a:rPr>
              <a:t>87.78 / 100</a:t>
            </a:r>
          </a:p>
          <a:p>
            <a:r>
              <a:rPr sz="1100">
                <a:solidFill>
                  <a:srgbClr val="475569"/>
                </a:solidFill>
              </a:rPr>
              <a:t>Document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107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100 / 100</a:t>
            </a:r>
          </a:p>
          <a:p>
            <a:r>
              <a:rPr sz="1100">
                <a:solidFill>
                  <a:srgbClr val="475569"/>
                </a:solidFill>
              </a:rPr>
              <a:t>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4107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88.75 / 100</a:t>
            </a:r>
          </a:p>
          <a:p>
            <a:r>
              <a:rPr sz="1100">
                <a:solidFill>
                  <a:srgbClr val="475569"/>
                </a:solidFill>
              </a:rPr>
              <a:t>Behavioral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107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100 / 100</a:t>
            </a:r>
          </a:p>
          <a:p>
            <a:r>
              <a:rPr sz="1100">
                <a:solidFill>
                  <a:srgbClr val="475569"/>
                </a:solidFill>
              </a:rPr>
              <a:t>Geo-location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3410712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6A34A"/>
                </a:solidFill>
              </a:rPr>
              <a:t>92.40 / 100</a:t>
            </a:r>
          </a:p>
          <a:p>
            <a:r>
              <a:rPr sz="1100">
                <a:solidFill>
                  <a:srgbClr val="475569"/>
                </a:solidFill>
              </a:rPr>
              <a:t>Historical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Infrastructure &amp; Integration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PostgreSQL adapter/configuration implemented — CONFIGURED_NOT_CONNECTED.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Redis adapter/configuration implemented — CONFIGURED_NOT_CONNECTED.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Kafka configuration/event schemas implemented — CONFIGURED_NOT_CONNECTED.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Neo4j schema/service configuration implemented — CONFIGURED_NOT_CONNECTED.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Event-driven flow: Verification → Fraud → Trust → Alerts.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No live infrastructure connection is claimed for the Colab demonstration.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Deployment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Current live demonstration runs FastAPI inside Google Colab.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Cloudflare Quick Tunnel provides temporary public HTTPS access.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The public URL depends on the active Colab runtime and tunnel process.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Enterprise-scale requirements such as 250M records, sub-2-second latency, HA and horizontal scaling were not load-tested.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Production deployment requires persistent infrastructure and real service connections.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Complete Source Code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Identity Verification Engine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Deepfake Detection Module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Voice Authentication Engine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Trust Scoring Engine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Executive Dashboard and Alert Center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REST APIs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Architecture Diagram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Deployment Guide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Technical Presentation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Live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F172A"/>
                </a:solidFill>
              </a:rPr>
              <a:t>Conclusion</a:t>
            </a:r>
          </a:p>
          <a:p>
            <a:pPr algn="ctr"/>
            <a:r>
              <a:rPr sz="1900">
                <a:solidFill>
                  <a:srgbClr val="475569"/>
                </a:solidFill>
              </a:rPr>
              <a:t>Integrated AI identity verification, fraud intelligence, trust scoring and live API demonstration</a:t>
            </a:r>
          </a:p>
          <a:p>
            <a:pPr algn="ctr"/>
            <a:r>
              <a:rPr sz="1800" b="1">
                <a:solidFill>
                  <a:srgbClr val="2563EB"/>
                </a:solidFill>
              </a:rPr>
              <a:t>AI Identity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75569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